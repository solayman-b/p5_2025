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7" r:id="rId1"/>
  </p:sldMasterIdLst>
  <p:sldIdLst>
    <p:sldId id="256" r:id="rId2"/>
    <p:sldId id="257" r:id="rId3"/>
    <p:sldId id="269" r:id="rId4"/>
    <p:sldId id="263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6281"/>
  </p:normalViewPr>
  <p:slideViewPr>
    <p:cSldViewPr snapToGrid="0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156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364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525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57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707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013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354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858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06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039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131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1131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3873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5817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0845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9183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289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490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  <p:sldLayoutId id="2147483791" r:id="rId14"/>
    <p:sldLayoutId id="2147483792" r:id="rId15"/>
    <p:sldLayoutId id="2147483793" r:id="rId16"/>
    <p:sldLayoutId id="214748379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3BD3BE-D0AF-8F21-C548-FC147D96DC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1366" y="907960"/>
            <a:ext cx="6138041" cy="873411"/>
          </a:xfrm>
        </p:spPr>
        <p:txBody>
          <a:bodyPr>
            <a:scene3d>
              <a:camera prst="orthographicFront"/>
              <a:lightRig rig="threePt" dir="t"/>
            </a:scene3d>
            <a:sp3d extrusionH="57150">
              <a:bevelT w="69850" h="38100" prst="cross"/>
            </a:sp3d>
          </a:bodyPr>
          <a:lstStyle/>
          <a:p>
            <a:pPr algn="ctr"/>
            <a:r>
              <a:rPr lang="fr-FR" dirty="0">
                <a:ln w="12700">
                  <a:noFill/>
                </a:ln>
                <a:effectLst>
                  <a:outerShdw blurRad="50800" dist="38100" dir="2700000" sx="102000" sy="102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Présentation équipe</a:t>
            </a:r>
            <a:endParaRPr lang="fr-FR" dirty="0">
              <a:effectLst>
                <a:outerShdw blurRad="50800" dist="38100" dir="2700000" sx="102000" sy="102000" algn="tl" rotWithShape="0">
                  <a:prstClr val="black">
                    <a:alpha val="40000"/>
                  </a:prst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21D934C-BD9F-4084-1284-5A4A0C3B95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1180" y="1930332"/>
            <a:ext cx="7740297" cy="873410"/>
          </a:xfrm>
        </p:spPr>
        <p:txBody>
          <a:bodyPr>
            <a:normAutofit/>
          </a:bodyPr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Récapitulatif projet CRM + ERP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8491B50-9138-282D-8D9B-0802A4E8F1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131" r="1"/>
          <a:stretch/>
        </p:blipFill>
        <p:spPr>
          <a:xfrm>
            <a:off x="470263" y="4367769"/>
            <a:ext cx="3912551" cy="129518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0ED5CAC-E9FC-4B53-2D51-0E1240C4A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263" y="4510783"/>
            <a:ext cx="3749256" cy="100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895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59C41B-330D-EC96-8AB1-1C4DE88A1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89421B-3AC3-536D-6EBF-01C1F28C9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i="0" u="none" strike="noStrike" dirty="0">
                <a:effectLst/>
                <a:latin typeface="Century Gothic" panose="020B0502020202020204" pitchFamily="34" charset="0"/>
              </a:rPr>
              <a:t>Introduction</a:t>
            </a:r>
            <a:endParaRPr lang="fr-FR" dirty="0">
              <a:latin typeface="Century Gothic" panose="020B0502020202020204" pitchFamily="34" charset="0"/>
            </a:endParaRPr>
          </a:p>
          <a:p>
            <a:pPr algn="l"/>
            <a:r>
              <a:rPr lang="fr-FR" i="0" u="none" strike="noStrike" dirty="0">
                <a:effectLst/>
                <a:latin typeface="Century Gothic" panose="020B0502020202020204" pitchFamily="34" charset="0"/>
              </a:rPr>
              <a:t>Bénéfices et Motivations</a:t>
            </a:r>
          </a:p>
          <a:p>
            <a:pPr algn="l"/>
            <a:r>
              <a:rPr lang="fr-FR" i="0" u="none" strike="noStrike" dirty="0">
                <a:effectLst/>
                <a:latin typeface="Century Gothic" panose="020B0502020202020204" pitchFamily="34" charset="0"/>
              </a:rPr>
              <a:t>Facteurs clés de Réussite</a:t>
            </a:r>
          </a:p>
          <a:p>
            <a:pPr algn="l"/>
            <a:r>
              <a:rPr lang="fr-FR" i="0" u="none" strike="noStrike" dirty="0">
                <a:effectLst/>
                <a:latin typeface="Century Gothic" panose="020B0502020202020204" pitchFamily="34" charset="0"/>
              </a:rPr>
              <a:t>Risques et Vigilance</a:t>
            </a:r>
          </a:p>
          <a:p>
            <a:r>
              <a:rPr lang="fr-FR" dirty="0"/>
              <a:t>Activités Principales</a:t>
            </a:r>
          </a:p>
          <a:p>
            <a:r>
              <a:rPr lang="fr-FR" dirty="0"/>
              <a:t>Estimations de Durée et Ressources</a:t>
            </a:r>
          </a:p>
          <a:p>
            <a:r>
              <a:rPr lang="fr-FR" dirty="0"/>
              <a:t>Diagramme de Gantt</a:t>
            </a:r>
          </a:p>
          <a:p>
            <a:r>
              <a:rPr lang="fr-FR" dirty="0"/>
              <a:t>Coût Global</a:t>
            </a:r>
          </a:p>
        </p:txBody>
      </p:sp>
    </p:spTree>
    <p:extLst>
      <p:ext uri="{BB962C8B-B14F-4D97-AF65-F5344CB8AC3E}">
        <p14:creationId xmlns:p14="http://schemas.microsoft.com/office/powerpoint/2010/main" val="2029013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59C41B-330D-EC96-8AB1-1C4DE88A1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Estimations de Durée et Ressources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D323F761-1D77-E9E1-6645-173F04AC9C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8424071"/>
              </p:ext>
            </p:extLst>
          </p:nvPr>
        </p:nvGraphicFramePr>
        <p:xfrm>
          <a:off x="1072055" y="2396359"/>
          <a:ext cx="10247586" cy="42840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55211">
                  <a:extLst>
                    <a:ext uri="{9D8B030D-6E8A-4147-A177-3AD203B41FA5}">
                      <a16:colId xmlns:a16="http://schemas.microsoft.com/office/drawing/2014/main" val="1585492095"/>
                    </a:ext>
                  </a:extLst>
                </a:gridCol>
                <a:gridCol w="2598640">
                  <a:extLst>
                    <a:ext uri="{9D8B030D-6E8A-4147-A177-3AD203B41FA5}">
                      <a16:colId xmlns:a16="http://schemas.microsoft.com/office/drawing/2014/main" val="4184450659"/>
                    </a:ext>
                  </a:extLst>
                </a:gridCol>
                <a:gridCol w="2008316">
                  <a:extLst>
                    <a:ext uri="{9D8B030D-6E8A-4147-A177-3AD203B41FA5}">
                      <a16:colId xmlns:a16="http://schemas.microsoft.com/office/drawing/2014/main" val="3105782098"/>
                    </a:ext>
                  </a:extLst>
                </a:gridCol>
                <a:gridCol w="2085419">
                  <a:extLst>
                    <a:ext uri="{9D8B030D-6E8A-4147-A177-3AD203B41FA5}">
                      <a16:colId xmlns:a16="http://schemas.microsoft.com/office/drawing/2014/main" val="1601689913"/>
                    </a:ext>
                  </a:extLst>
                </a:gridCol>
              </a:tblGrid>
              <a:tr h="5400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>
                          <a:effectLst/>
                        </a:rPr>
                        <a:t>Poste</a:t>
                      </a:r>
                      <a:endParaRPr lang="fr-FR" sz="11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1362" marR="41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 dirty="0">
                          <a:effectLst/>
                        </a:rPr>
                        <a:t>Salaire journalier</a:t>
                      </a:r>
                      <a:endParaRPr lang="fr-FR" sz="11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1362" marR="41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>
                          <a:effectLst/>
                        </a:rPr>
                        <a:t>Durée (jours)</a:t>
                      </a:r>
                      <a:endParaRPr lang="fr-FR" sz="11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1362" marR="41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>
                          <a:effectLst/>
                        </a:rPr>
                        <a:t>Coût total</a:t>
                      </a:r>
                      <a:endParaRPr lang="fr-FR" sz="11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1362" marR="41362" marT="0" marB="0" anchor="ctr"/>
                </a:tc>
                <a:extLst>
                  <a:ext uri="{0D108BD9-81ED-4DB2-BD59-A6C34878D82A}">
                    <a16:rowId xmlns:a16="http://schemas.microsoft.com/office/drawing/2014/main" val="438664372"/>
                  </a:ext>
                </a:extLst>
              </a:tr>
              <a:tr h="53991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 dirty="0">
                          <a:effectLst/>
                        </a:rPr>
                        <a:t>Consultant CRM</a:t>
                      </a:r>
                      <a:endParaRPr lang="fr-FR" sz="11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1362" marR="41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 dirty="0">
                          <a:effectLst/>
                        </a:rPr>
                        <a:t>300 € </a:t>
                      </a:r>
                      <a:endParaRPr lang="fr-FR" sz="11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1362" marR="41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 dirty="0">
                          <a:effectLst/>
                        </a:rPr>
                        <a:t>14</a:t>
                      </a:r>
                      <a:endParaRPr lang="fr-FR" sz="11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1362" marR="41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 dirty="0">
                          <a:solidFill>
                            <a:srgbClr val="40404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</a:rPr>
                        <a:t>4 200€</a:t>
                      </a:r>
                    </a:p>
                  </a:txBody>
                  <a:tcPr marL="41362" marR="41362" marT="0" marB="0" anchor="ctr"/>
                </a:tc>
                <a:extLst>
                  <a:ext uri="{0D108BD9-81ED-4DB2-BD59-A6C34878D82A}">
                    <a16:rowId xmlns:a16="http://schemas.microsoft.com/office/drawing/2014/main" val="1447642770"/>
                  </a:ext>
                </a:extLst>
              </a:tr>
              <a:tr h="31681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 dirty="0">
                          <a:effectLst/>
                        </a:rPr>
                        <a:t>Développeur d'application</a:t>
                      </a:r>
                      <a:endParaRPr lang="fr-FR" sz="11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1362" marR="41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 dirty="0">
                          <a:effectLst/>
                        </a:rPr>
                        <a:t>300 € </a:t>
                      </a:r>
                      <a:endParaRPr lang="fr-FR" sz="11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1362" marR="41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 dirty="0">
                          <a:solidFill>
                            <a:srgbClr val="40404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60</a:t>
                      </a:r>
                      <a:endParaRPr lang="fr-FR" sz="11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1362" marR="41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 dirty="0">
                          <a:solidFill>
                            <a:srgbClr val="40404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</a:rPr>
                        <a:t>18 000€</a:t>
                      </a:r>
                    </a:p>
                  </a:txBody>
                  <a:tcPr marL="41362" marR="41362" marT="0" marB="0" anchor="ctr"/>
                </a:tc>
                <a:extLst>
                  <a:ext uri="{0D108BD9-81ED-4DB2-BD59-A6C34878D82A}">
                    <a16:rowId xmlns:a16="http://schemas.microsoft.com/office/drawing/2014/main" val="853887104"/>
                  </a:ext>
                </a:extLst>
              </a:tr>
              <a:tr h="31681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 dirty="0" err="1">
                          <a:effectLst/>
                        </a:rPr>
                        <a:t>Ux</a:t>
                      </a:r>
                      <a:r>
                        <a:rPr lang="fr-FR" sz="1500" dirty="0">
                          <a:effectLst/>
                        </a:rPr>
                        <a:t> designer </a:t>
                      </a:r>
                      <a:endParaRPr lang="fr-FR" sz="11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1362" marR="41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 dirty="0">
                          <a:effectLst/>
                        </a:rPr>
                        <a:t>250 € </a:t>
                      </a:r>
                      <a:endParaRPr lang="fr-FR" sz="11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1362" marR="41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 dirty="0">
                          <a:solidFill>
                            <a:srgbClr val="40404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fr-FR" sz="11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1362" marR="41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 dirty="0">
                          <a:solidFill>
                            <a:srgbClr val="40404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</a:rPr>
                        <a:t>1 250€</a:t>
                      </a:r>
                    </a:p>
                  </a:txBody>
                  <a:tcPr marL="41362" marR="41362" marT="0" marB="0" anchor="ctr"/>
                </a:tc>
                <a:extLst>
                  <a:ext uri="{0D108BD9-81ED-4DB2-BD59-A6C34878D82A}">
                    <a16:rowId xmlns:a16="http://schemas.microsoft.com/office/drawing/2014/main" val="1939123580"/>
                  </a:ext>
                </a:extLst>
              </a:tr>
              <a:tr h="316818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500" dirty="0">
                          <a:effectLst/>
                        </a:rPr>
                        <a:t>Développeur front end</a:t>
                      </a:r>
                      <a:endParaRPr lang="fr-FR" sz="15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1362" marR="41362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500" dirty="0">
                          <a:effectLst/>
                          <a:latin typeface="Century Gothic" panose="020B0502020202020204" pitchFamily="34" charset="0"/>
                        </a:rPr>
                        <a:t>300 €</a:t>
                      </a:r>
                      <a:endParaRPr lang="fr-FR" sz="1500" dirty="0">
                        <a:solidFill>
                          <a:srgbClr val="404040"/>
                        </a:solidFill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41362" marR="41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 dirty="0">
                          <a:solidFill>
                            <a:srgbClr val="40404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</a:rPr>
                        <a:t>10</a:t>
                      </a:r>
                    </a:p>
                  </a:txBody>
                  <a:tcPr marL="41362" marR="41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 dirty="0">
                          <a:solidFill>
                            <a:srgbClr val="40404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</a:rPr>
                        <a:t>3 000€</a:t>
                      </a:r>
                    </a:p>
                  </a:txBody>
                  <a:tcPr marL="41362" marR="41362" marT="0" marB="0" anchor="ctr"/>
                </a:tc>
                <a:extLst>
                  <a:ext uri="{0D108BD9-81ED-4DB2-BD59-A6C34878D82A}">
                    <a16:rowId xmlns:a16="http://schemas.microsoft.com/office/drawing/2014/main" val="4025956059"/>
                  </a:ext>
                </a:extLst>
              </a:tr>
              <a:tr h="5400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>
                          <a:effectLst/>
                        </a:rPr>
                        <a:t>Administrateur système </a:t>
                      </a:r>
                      <a:endParaRPr lang="fr-FR" sz="11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1362" marR="41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 dirty="0">
                          <a:effectLst/>
                        </a:rPr>
                        <a:t>250 € </a:t>
                      </a:r>
                      <a:endParaRPr lang="fr-FR" sz="11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1362" marR="41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 dirty="0">
                          <a:effectLst/>
                        </a:rPr>
                        <a:t>3</a:t>
                      </a:r>
                      <a:endParaRPr lang="fr-FR" sz="11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1362" marR="41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 dirty="0">
                          <a:solidFill>
                            <a:srgbClr val="40404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</a:rPr>
                        <a:t>750€</a:t>
                      </a:r>
                    </a:p>
                  </a:txBody>
                  <a:tcPr marL="41362" marR="41362" marT="0" marB="0" anchor="ctr"/>
                </a:tc>
                <a:extLst>
                  <a:ext uri="{0D108BD9-81ED-4DB2-BD59-A6C34878D82A}">
                    <a16:rowId xmlns:a16="http://schemas.microsoft.com/office/drawing/2014/main" val="1471491658"/>
                  </a:ext>
                </a:extLst>
              </a:tr>
              <a:tr h="53991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 dirty="0">
                          <a:effectLst/>
                        </a:rPr>
                        <a:t>Testeur</a:t>
                      </a:r>
                      <a:endParaRPr lang="fr-FR" sz="11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1362" marR="41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 dirty="0">
                          <a:effectLst/>
                        </a:rPr>
                        <a:t>250 € </a:t>
                      </a:r>
                      <a:endParaRPr lang="fr-FR" sz="11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1362" marR="41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 dirty="0">
                          <a:effectLst/>
                        </a:rPr>
                        <a:t>11</a:t>
                      </a:r>
                      <a:endParaRPr lang="fr-FR" sz="11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1362" marR="41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 dirty="0">
                          <a:solidFill>
                            <a:srgbClr val="40404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</a:rPr>
                        <a:t>2 750€</a:t>
                      </a:r>
                    </a:p>
                  </a:txBody>
                  <a:tcPr marL="41362" marR="41362" marT="0" marB="0" anchor="ctr"/>
                </a:tc>
                <a:extLst>
                  <a:ext uri="{0D108BD9-81ED-4DB2-BD59-A6C34878D82A}">
                    <a16:rowId xmlns:a16="http://schemas.microsoft.com/office/drawing/2014/main" val="1832626974"/>
                  </a:ext>
                </a:extLst>
              </a:tr>
              <a:tr h="31681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>
                          <a:effectLst/>
                        </a:rPr>
                        <a:t>Formateur </a:t>
                      </a:r>
                      <a:endParaRPr lang="fr-FR" sz="11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1362" marR="41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 dirty="0">
                          <a:effectLst/>
                        </a:rPr>
                        <a:t>200 € </a:t>
                      </a:r>
                      <a:endParaRPr lang="fr-FR" sz="11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1362" marR="41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 dirty="0">
                          <a:effectLst/>
                        </a:rPr>
                        <a:t>22</a:t>
                      </a:r>
                      <a:endParaRPr lang="fr-FR" sz="11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1362" marR="41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 dirty="0">
                          <a:solidFill>
                            <a:srgbClr val="40404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</a:rPr>
                        <a:t>4 400€</a:t>
                      </a:r>
                    </a:p>
                  </a:txBody>
                  <a:tcPr marL="41362" marR="41362" marT="0" marB="0" anchor="ctr"/>
                </a:tc>
                <a:extLst>
                  <a:ext uri="{0D108BD9-81ED-4DB2-BD59-A6C34878D82A}">
                    <a16:rowId xmlns:a16="http://schemas.microsoft.com/office/drawing/2014/main" val="3916846446"/>
                  </a:ext>
                </a:extLst>
              </a:tr>
              <a:tr h="31681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>
                          <a:effectLst/>
                        </a:rPr>
                        <a:t>Chef de projet </a:t>
                      </a:r>
                      <a:endParaRPr lang="fr-FR" sz="11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1362" marR="41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 dirty="0">
                          <a:effectLst/>
                        </a:rPr>
                        <a:t>350 €</a:t>
                      </a:r>
                      <a:endParaRPr lang="fr-FR" sz="11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1362" marR="41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 dirty="0">
                          <a:effectLst/>
                        </a:rPr>
                        <a:t>80</a:t>
                      </a:r>
                    </a:p>
                  </a:txBody>
                  <a:tcPr marL="41362" marR="41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 dirty="0">
                          <a:solidFill>
                            <a:srgbClr val="40404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</a:rPr>
                        <a:t>28 000€</a:t>
                      </a:r>
                    </a:p>
                  </a:txBody>
                  <a:tcPr marL="41362" marR="41362" marT="0" marB="0" anchor="ctr"/>
                </a:tc>
                <a:extLst>
                  <a:ext uri="{0D108BD9-81ED-4DB2-BD59-A6C34878D82A}">
                    <a16:rowId xmlns:a16="http://schemas.microsoft.com/office/drawing/2014/main" val="2314911532"/>
                  </a:ext>
                </a:extLst>
              </a:tr>
              <a:tr h="53997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fr-FR" sz="900">
                        <a:solidFill>
                          <a:srgbClr val="404040"/>
                        </a:solidFill>
                        <a:effectLst/>
                        <a:latin typeface="Corbel" panose="020B0503020204020204" pitchFamily="34" charset="0"/>
                      </a:endParaRPr>
                    </a:p>
                  </a:txBody>
                  <a:tcPr marL="41362" marR="41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 dirty="0">
                          <a:effectLst/>
                        </a:rPr>
                        <a:t> </a:t>
                      </a:r>
                      <a:endParaRPr lang="fr-FR" sz="1100" dirty="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1362" marR="41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>
                          <a:effectLst/>
                        </a:rPr>
                        <a:t> </a:t>
                      </a:r>
                      <a:r>
                        <a:rPr lang="fr-FR" sz="1500" u="sng">
                          <a:effectLst/>
                        </a:rPr>
                        <a:t>Total</a:t>
                      </a:r>
                      <a:endParaRPr lang="fr-FR" sz="1100">
                        <a:solidFill>
                          <a:srgbClr val="40404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1362" marR="4136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500">
                          <a:solidFill>
                            <a:srgbClr val="40404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</a:rPr>
                        <a:t>62 350€</a:t>
                      </a:r>
                      <a:endParaRPr lang="fr-FR" sz="1500" dirty="0">
                        <a:solidFill>
                          <a:srgbClr val="404040"/>
                        </a:solidFill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41362" marR="41362" marT="0" marB="0" anchor="ctr"/>
                </a:tc>
                <a:extLst>
                  <a:ext uri="{0D108BD9-81ED-4DB2-BD59-A6C34878D82A}">
                    <a16:rowId xmlns:a16="http://schemas.microsoft.com/office/drawing/2014/main" val="1199688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6127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59C41B-330D-EC96-8AB1-1C4DE88A1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MERCI DE VOTRE ATTENTION !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39F1A66-C5CA-7C0A-D19E-8AD4FD4495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45669" y="2259723"/>
            <a:ext cx="5300662" cy="3149984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DB2713A-5C17-D0F0-0E09-2AD8D5B9E42A}"/>
              </a:ext>
            </a:extLst>
          </p:cNvPr>
          <p:cNvSpPr/>
          <p:nvPr/>
        </p:nvSpPr>
        <p:spPr>
          <a:xfrm>
            <a:off x="1583392" y="5248074"/>
            <a:ext cx="902522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Avez-vous des questions ?</a:t>
            </a:r>
          </a:p>
        </p:txBody>
      </p:sp>
    </p:spTree>
    <p:extLst>
      <p:ext uri="{BB962C8B-B14F-4D97-AF65-F5344CB8AC3E}">
        <p14:creationId xmlns:p14="http://schemas.microsoft.com/office/powerpoint/2010/main" val="11393870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le d’ions">
  <a:themeElements>
    <a:clrScheme name="Personnalisé 1">
      <a:dk1>
        <a:srgbClr val="000000"/>
      </a:dk1>
      <a:lt1>
        <a:srgbClr val="FFFFFF"/>
      </a:lt1>
      <a:dk2>
        <a:srgbClr val="632078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91C9"/>
      </a:accent4>
      <a:accent5>
        <a:srgbClr val="5887C8"/>
      </a:accent5>
      <a:accent6>
        <a:srgbClr val="F79646"/>
      </a:accent6>
      <a:hlink>
        <a:srgbClr val="0000FF"/>
      </a:hlink>
      <a:folHlink>
        <a:srgbClr val="800080"/>
      </a:folHlink>
    </a:clrScheme>
    <a:fontScheme name="Salle d’ions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lle d’ions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{533B4671-AE47-174A-A27B-CBB7E48B2FEA}tf10001076</Template>
  <TotalTime>10715</TotalTime>
  <Words>123</Words>
  <Application>Microsoft Office PowerPoint</Application>
  <PresentationFormat>Grand écran</PresentationFormat>
  <Paragraphs>53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0" baseType="lpstr">
      <vt:lpstr>Calibri</vt:lpstr>
      <vt:lpstr>Century Gothic</vt:lpstr>
      <vt:lpstr>Corbel</vt:lpstr>
      <vt:lpstr>Times New Roman</vt:lpstr>
      <vt:lpstr>Wingdings 3</vt:lpstr>
      <vt:lpstr>Salle d’ions</vt:lpstr>
      <vt:lpstr>Présentation équipe</vt:lpstr>
      <vt:lpstr>Sommaire</vt:lpstr>
      <vt:lpstr>Estimations de Durée et Ressources</vt:lpstr>
      <vt:lpstr>MERCI DE VOTRE ATTENTION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2</dc:title>
  <dc:creator>Solayman B</dc:creator>
  <cp:lastModifiedBy>Mourad CHERFI</cp:lastModifiedBy>
  <cp:revision>55</cp:revision>
  <dcterms:created xsi:type="dcterms:W3CDTF">2022-12-06T13:47:18Z</dcterms:created>
  <dcterms:modified xsi:type="dcterms:W3CDTF">2024-07-11T09:33:54Z</dcterms:modified>
</cp:coreProperties>
</file>